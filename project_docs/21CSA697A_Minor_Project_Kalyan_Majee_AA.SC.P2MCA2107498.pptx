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0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2"/>
  </p:normalViewPr>
  <p:slideViewPr>
    <p:cSldViewPr snapToGrid="0">
      <p:cViewPr varScale="1">
        <p:scale>
          <a:sx n="109" d="100"/>
          <a:sy n="109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14ECA40-18EC-E14D-5632-EDFB15A085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9C6003-610D-6443-D4E3-E0A2E347DC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F6D6C-062B-BE49-A13F-C0AE1A0A6851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CE700A-BCE0-733B-801A-E78E36C5688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B82304-C5CA-FF43-5D37-FC233D0861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4547E-56EA-4C42-AAF7-28AFE38B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256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6E983-C659-CE43-BA0A-ED276BED2B3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5C055-C28E-5745-8D14-57AD9BEB5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690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8B2A-FDFE-BE46-B876-033B343B3FB8}" type="datetime1">
              <a:rPr lang="en-IN" smtClean="0"/>
              <a:t>29/01/26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5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2B56A-17DC-CD4D-9032-CB3E9ABDCB73}" type="datetime1">
              <a:rPr lang="en-IN" smtClean="0"/>
              <a:t>29/01/26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6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F82825A-3A18-4540-B8F5-0A8F0C33E23F}" type="datetime1">
              <a:rPr lang="en-IN" smtClean="0"/>
              <a:t>29/01/26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4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3DFE4-EF28-F040-ACE4-873172679B29}" type="datetime1">
              <a:rPr lang="en-IN" smtClean="0"/>
              <a:t>29/01/26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3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2AF0-D2F2-AD42-8D9A-D01C9C104188}" type="datetime1">
              <a:rPr lang="en-IN" smtClean="0"/>
              <a:t>29/01/26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23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71125-65F9-3A43-AEF3-DC09B9D9D770}" type="datetime1">
              <a:rPr lang="en-IN" smtClean="0"/>
              <a:t>29/01/26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7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68FF-9690-6242-9B71-3F1D7940315D}" type="datetime1">
              <a:rPr lang="en-IN" smtClean="0"/>
              <a:t>29/01/26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6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3815-DCD0-C749-BE12-7E80755E1137}" type="datetime1">
              <a:rPr lang="en-IN" smtClean="0"/>
              <a:t>29/01/26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3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5C79-867E-A644-AAA4-11C4915C2BD8}" type="datetime1">
              <a:rPr lang="en-IN" smtClean="0"/>
              <a:t>29/01/26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7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2D4F-88E7-7A47-A34D-73D17B930FC6}" type="datetime1">
              <a:rPr lang="en-IN" smtClean="0"/>
              <a:t>29/01/26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36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20C-2672-D942-A1F6-792FE472F1A0}" type="datetime1">
              <a:rPr lang="en-IN" smtClean="0"/>
              <a:t>29/01/26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4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0D0CC92-A702-0B4E-B6B9-A09543D0EB97}" type="datetime1">
              <a:rPr lang="en-IN" smtClean="0"/>
              <a:t>29/01/26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Amrita Vishwa Vidyapeetam, 3rd Sem, Minor Project, Feb 2026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9122EB8-D9F0-A346-9013-AF5E598D1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6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3AEC-3D76-B55C-54E1-7E405AE97B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</a:br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 </a:t>
            </a:r>
            <a:r>
              <a:rPr lang="en-IN" sz="4800" b="1" dirty="0">
                <a:solidFill>
                  <a:srgbClr val="B91F54"/>
                </a:solidFill>
                <a:effectLst/>
                <a:latin typeface="Courier New" panose="02070309020205020404" pitchFamily="49" charset="0"/>
              </a:rPr>
              <a:t>21CSA697A –Minor Project</a:t>
            </a:r>
            <a:br>
              <a:rPr lang="en-IN" sz="4800" b="1" dirty="0">
                <a:solidFill>
                  <a:srgbClr val="B91F54"/>
                </a:solidFill>
                <a:effectLst/>
                <a:latin typeface="Courier New" panose="02070309020205020404" pitchFamily="49" charset="0"/>
              </a:rPr>
            </a:br>
            <a:endParaRPr 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44A68-4A2D-4334-CAD9-D01814A1EC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br>
              <a:rPr lang="en-IN" dirty="0">
                <a:effectLst/>
                <a:latin typeface="Arial" panose="020B0604020202020204" pitchFamily="34" charset="0"/>
              </a:rPr>
            </a:br>
            <a:r>
              <a:rPr lang="en-I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IN" b="1" i="1" dirty="0">
                <a:solidFill>
                  <a:srgbClr val="A81C4A"/>
                </a:solidFill>
                <a:effectLst/>
                <a:latin typeface="Arial" panose="020B0604020202020204" pitchFamily="34" charset="0"/>
              </a:rPr>
              <a:t>DATE : 28-Jan-2026</a:t>
            </a:r>
            <a:endParaRPr lang="en-IN" dirty="0">
              <a:solidFill>
                <a:srgbClr val="A81C4A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7B85C-2F3D-0189-ED8A-40C490D5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81994" cy="1289538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34B901-D082-7E3C-1E23-FCDD14E9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</a:t>
            </a:r>
            <a:r>
              <a:rPr lang="en-US" baseline="30000" dirty="0"/>
              <a:t>rd</a:t>
            </a:r>
            <a:r>
              <a:rPr lang="en-US" dirty="0"/>
              <a:t> Sem, Minor Project, Feb 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0AC700-D25F-494C-CB21-57CD22DD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60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20096-9EC2-3E5F-7501-12E3B9D24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341" y="1253900"/>
            <a:ext cx="10058400" cy="4050792"/>
          </a:xfrm>
        </p:spPr>
        <p:txBody>
          <a:bodyPr>
            <a:normAutofit/>
          </a:bodyPr>
          <a:lstStyle/>
          <a:p>
            <a:r>
              <a:rPr lang="en-IN" sz="2400" b="1" dirty="0"/>
              <a:t>Project Title:</a:t>
            </a:r>
            <a:r>
              <a:rPr lang="en-IN" sz="2400" dirty="0"/>
              <a:t> Design and Development of an AI-Powered Data Insight Chatbot Using Python and SQL  </a:t>
            </a:r>
          </a:p>
          <a:p>
            <a:r>
              <a:rPr lang="en-IN" sz="2400" b="1" dirty="0"/>
              <a:t>Student Name:</a:t>
            </a:r>
            <a:r>
              <a:rPr lang="en-IN" sz="2400" dirty="0"/>
              <a:t> Kalyan </a:t>
            </a:r>
            <a:r>
              <a:rPr lang="en-IN" sz="2400" dirty="0" err="1"/>
              <a:t>Majee</a:t>
            </a:r>
            <a:r>
              <a:rPr lang="en-IN" sz="2400" dirty="0"/>
              <a:t> </a:t>
            </a:r>
          </a:p>
          <a:p>
            <a:r>
              <a:rPr lang="en-IN" sz="2400" b="1" dirty="0"/>
              <a:t>Register Number:</a:t>
            </a:r>
            <a:r>
              <a:rPr lang="en-IN" sz="2400" dirty="0"/>
              <a:t> </a:t>
            </a:r>
            <a:r>
              <a:rPr lang="en-IN" sz="2400" dirty="0">
                <a:effectLst/>
                <a:latin typeface="Helvetica Neue" panose="02000503000000020004" pitchFamily="2" charset="0"/>
              </a:rPr>
              <a:t>AA.SC.P2MCA2107498</a:t>
            </a:r>
            <a:r>
              <a:rPr lang="en-IN" sz="2400" dirty="0"/>
              <a:t> </a:t>
            </a:r>
          </a:p>
          <a:p>
            <a:r>
              <a:rPr lang="en-IN" sz="2400" b="1" dirty="0"/>
              <a:t>Program:</a:t>
            </a:r>
            <a:r>
              <a:rPr lang="en-IN" sz="2400" dirty="0"/>
              <a:t> Master of Computer Applications (MCA) </a:t>
            </a:r>
          </a:p>
          <a:p>
            <a:r>
              <a:rPr lang="en-IN" sz="2400" b="1" dirty="0"/>
              <a:t>Semester:</a:t>
            </a:r>
            <a:r>
              <a:rPr lang="en-IN" sz="2400" dirty="0"/>
              <a:t> 3rd</a:t>
            </a:r>
          </a:p>
          <a:p>
            <a:r>
              <a:rPr lang="en-IN" sz="2400" b="1" dirty="0"/>
              <a:t>Department:</a:t>
            </a:r>
            <a:r>
              <a:rPr lang="en-IN" sz="2400" dirty="0"/>
              <a:t> Amrita Ahead Online</a:t>
            </a:r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2A5BE-23DA-E84C-9185-320DE99B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7EF52-C065-2343-B350-8C4BB84D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270F-78B2-7C40-3B54-5D362747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Introduction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AA4AC-EBD7-C495-3C20-37A58B862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Domain Overview:</a:t>
            </a:r>
            <a:r>
              <a:rPr lang="en-IN" dirty="0"/>
              <a:t> The project resides in the intersection of Natural Language Processing (NLP) and Database Management Systems (DBMS).</a:t>
            </a:r>
          </a:p>
          <a:p>
            <a:r>
              <a:rPr lang="en-IN" b="1" dirty="0"/>
              <a:t>Motivation:</a:t>
            </a:r>
            <a:r>
              <a:rPr lang="en-IN" dirty="0"/>
              <a:t> Bridging the gap between non-technical users and complex relational databases.</a:t>
            </a:r>
          </a:p>
          <a:p>
            <a:r>
              <a:rPr lang="en-IN" b="1" dirty="0"/>
              <a:t>Relevance:</a:t>
            </a:r>
            <a:r>
              <a:rPr lang="en-IN" dirty="0"/>
              <a:t> Automating query generation reduces the dependency on technical staff for data retrieval.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B8017-B5ED-D230-B8D8-AD5D4B4CD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30C4B-03EF-F8A3-4BC9-0501AAE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63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1128-0A45-ED27-3BBA-ACF73856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Problem</a:t>
            </a:r>
            <a:r>
              <a:rPr lang="en-IN" b="1" dirty="0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Statement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D903F-E955-FACD-B2ED-6F011D739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Technical Problem:</a:t>
            </a:r>
            <a:r>
              <a:rPr lang="en-IN" dirty="0"/>
              <a:t> Translating ambiguous human language into precise, executable SQL syntax.</a:t>
            </a:r>
          </a:p>
          <a:p>
            <a:r>
              <a:rPr lang="en-IN" b="1" dirty="0"/>
              <a:t>Current Limitations:</a:t>
            </a:r>
            <a:r>
              <a:rPr lang="en-IN" dirty="0"/>
              <a:t> Traditional systems rely on rigid keyword matching or manual SQL writing.</a:t>
            </a:r>
          </a:p>
          <a:p>
            <a:r>
              <a:rPr lang="en-IN" b="1" dirty="0"/>
              <a:t>Research Gap:</a:t>
            </a:r>
            <a:r>
              <a:rPr lang="en-IN" dirty="0"/>
              <a:t> Handling schema-specific context and multi-turn conversations in database querying.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C236F-EB10-E0D6-956C-71845819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A7BB6-D14A-4D74-DAA5-010CD35B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4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F5017-C6D5-ADFE-EDBD-96851174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Objectives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582AA-04F8-B55A-AF22-20FC7D232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integrate the Llama-3.3-70b model for high-accuracy SQL generation.</a:t>
            </a:r>
          </a:p>
          <a:p>
            <a:r>
              <a:rPr lang="en-IN" dirty="0"/>
              <a:t>To develop a conversational interface that maintains query context over multiple interactions.</a:t>
            </a:r>
          </a:p>
          <a:p>
            <a:r>
              <a:rPr lang="en-IN" dirty="0"/>
              <a:t>To create a secure, real-time connection to MySQL databases via </a:t>
            </a:r>
            <a:r>
              <a:rPr lang="en-IN" dirty="0" err="1"/>
              <a:t>LangChain</a:t>
            </a:r>
            <a:r>
              <a:rPr lang="en-IN" dirty="0"/>
              <a:t> utilities.</a:t>
            </a:r>
          </a:p>
          <a:p>
            <a:r>
              <a:rPr lang="en-IN" dirty="0"/>
              <a:t>To provide natural language explanations of database results for end-users.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A3C29-D9F9-5793-2554-63113D04A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8EC7E-C5B2-CB5E-684D-2EC1F46E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1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79D0-51FF-CA7C-B03D-B5C9B30BD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Scope of</a:t>
            </a:r>
            <a:r>
              <a:rPr lang="en-IN" b="1" dirty="0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the Project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85945-00E1-B787-4839-95D7926D3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Boundaries:</a:t>
            </a:r>
            <a:r>
              <a:rPr lang="en-IN" dirty="0"/>
              <a:t> Supports MySQL relational databases; focused on data retrieval (SELECT) operations.</a:t>
            </a:r>
          </a:p>
          <a:p>
            <a:r>
              <a:rPr lang="en-IN" b="1" dirty="0"/>
              <a:t>Assumptions:</a:t>
            </a:r>
            <a:r>
              <a:rPr lang="en-IN" dirty="0"/>
              <a:t> Assumes the database schema is well-defined and normalized.</a:t>
            </a:r>
          </a:p>
          <a:p>
            <a:r>
              <a:rPr lang="en-IN" b="1" dirty="0"/>
              <a:t>Applicability:</a:t>
            </a:r>
            <a:r>
              <a:rPr lang="en-IN" dirty="0"/>
              <a:t> Business intelligence, internal data reporting, and educational tools.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44A44-1098-EE40-D4AC-C5304B12C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9868A-E1D4-3650-A6E0-1ED62265D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03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3A32-460E-99A8-5BB3-D86626A4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Literature Review / Existing System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3F5C5-9D83-B334-9820-206EC0F8D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Existing Text-to-SQL methods often struggle with complex joins or schema ambiguity. </a:t>
            </a:r>
          </a:p>
          <a:p>
            <a:r>
              <a:rPr lang="en-IN" dirty="0"/>
              <a:t>Recent advancements in LLMs, like the Llama series, have shown superior performance in zero-shot SQL generation. </a:t>
            </a:r>
          </a:p>
          <a:p>
            <a:r>
              <a:rPr lang="en-IN" dirty="0"/>
              <a:t>This project utilizes </a:t>
            </a:r>
            <a:r>
              <a:rPr lang="en-IN" dirty="0" err="1"/>
              <a:t>LangChain’s</a:t>
            </a:r>
            <a:r>
              <a:rPr lang="en-IN" dirty="0"/>
              <a:t> </a:t>
            </a:r>
            <a:r>
              <a:rPr lang="en-IN" dirty="0" err="1"/>
              <a:t>SQLDatabase</a:t>
            </a:r>
            <a:r>
              <a:rPr lang="en-IN" dirty="0"/>
              <a:t> utility to provide the LLM with the necessary metadata to overcome these limitations. </a:t>
            </a:r>
          </a:p>
          <a:p>
            <a:pPr algn="l"/>
            <a:endParaRPr lang="en-IN" b="0" i="0" u="none" strike="noStrike" dirty="0">
              <a:effectLst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867EE-E7DA-E442-FF38-7F2776DB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70B9F-5CEB-9C21-58B5-E8011C0D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8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AD03A-7542-01A1-2772-12091FB4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Proposed System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1D0F3-7110-A954-1658-C13C57EE7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Methodology:</a:t>
            </a:r>
            <a:r>
              <a:rPr lang="en-IN" dirty="0"/>
              <a:t> A "Double-Chain" approach—one chain for SQL generation and one for result interpretation.</a:t>
            </a:r>
          </a:p>
          <a:p>
            <a:r>
              <a:rPr lang="en-IN" b="1" dirty="0"/>
              <a:t>Workflow:</a:t>
            </a:r>
            <a:r>
              <a:rPr lang="en-IN" dirty="0"/>
              <a:t> User Query → Schema Injection → LLM Processing → SQL Execution → Natural Language Response.</a:t>
            </a:r>
          </a:p>
          <a:p>
            <a:r>
              <a:rPr lang="en-IN" b="1" dirty="0"/>
              <a:t>Innovation:</a:t>
            </a:r>
            <a:r>
              <a:rPr lang="en-IN" dirty="0"/>
              <a:t> Using </a:t>
            </a:r>
            <a:r>
              <a:rPr lang="en-IN" dirty="0" err="1"/>
              <a:t>Groq’s</a:t>
            </a:r>
            <a:r>
              <a:rPr lang="en-IN" dirty="0"/>
              <a:t> high-speed inference for near-instantaneous query generation.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C6B91-F9EF-0D49-803F-D6480341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E90C6-FA54-D55B-C615-4BAE9305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19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53FAE-4B96-E82E-9FB8-AC1F22ED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Architecture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519AD-770D-AD6D-86BA-7BA4A91DB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Module Interaction:</a:t>
            </a:r>
            <a:r>
              <a:rPr lang="en-IN" dirty="0"/>
              <a:t> </a:t>
            </a:r>
            <a:r>
              <a:rPr lang="en-IN" dirty="0" err="1"/>
              <a:t>Streamlit</a:t>
            </a:r>
            <a:r>
              <a:rPr lang="en-IN" dirty="0"/>
              <a:t> frontend interacts with </a:t>
            </a:r>
            <a:r>
              <a:rPr lang="en-IN" dirty="0" err="1"/>
              <a:t>LangChain</a:t>
            </a:r>
            <a:r>
              <a:rPr lang="en-IN" dirty="0"/>
              <a:t>, which queries the MySQL metadata.</a:t>
            </a:r>
          </a:p>
          <a:p>
            <a:r>
              <a:rPr lang="en-IN" b="1" dirty="0"/>
              <a:t>Data Flow:</a:t>
            </a:r>
            <a:r>
              <a:rPr lang="en-IN" dirty="0"/>
              <a:t> The &lt;SCHEMA&gt; and &lt;</a:t>
            </a:r>
            <a:r>
              <a:rPr lang="en-IN" dirty="0" err="1"/>
              <a:t>chat_history</a:t>
            </a:r>
            <a:r>
              <a:rPr lang="en-IN" dirty="0"/>
              <a:t>&gt; flow into the prompt to provide the LLM with context.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1B533-D1E3-CFA9-F029-EEB4BBD0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25F89-675D-C3EE-AF94-8EED6795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48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2A091-D028-CA3F-5274-4440401FF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Methodology / Algorithms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3E0A8-E58C-F1EA-590D-C30DAE313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Algorithm:</a:t>
            </a:r>
            <a:r>
              <a:rPr lang="en-IN" dirty="0"/>
              <a:t> Prompt-to-SQL Execution Pipeline.</a:t>
            </a:r>
          </a:p>
          <a:p>
            <a:r>
              <a:rPr lang="en-IN" b="1" dirty="0"/>
              <a:t>Step-by-Step:</a:t>
            </a: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dirty="0"/>
              <a:t>    1. Capture user input. </a:t>
            </a:r>
          </a:p>
          <a:p>
            <a:pPr marL="0" indent="0">
              <a:buNone/>
            </a:pPr>
            <a:r>
              <a:rPr lang="en-IN" dirty="0"/>
              <a:t>    2. Retrieve table schema.</a:t>
            </a:r>
          </a:p>
          <a:p>
            <a:pPr marL="0" indent="0">
              <a:buNone/>
            </a:pPr>
            <a:r>
              <a:rPr lang="en-IN" dirty="0"/>
              <a:t>    3. LLM generates SQL. </a:t>
            </a:r>
          </a:p>
          <a:p>
            <a:pPr marL="0" indent="0">
              <a:buNone/>
            </a:pPr>
            <a:r>
              <a:rPr lang="en-IN" dirty="0"/>
              <a:t>    4. Execute and validate on MySQL.</a:t>
            </a:r>
          </a:p>
          <a:p>
            <a:r>
              <a:rPr lang="en-IN" b="1" dirty="0"/>
              <a:t>Justification:</a:t>
            </a:r>
            <a:r>
              <a:rPr lang="en-IN" dirty="0"/>
              <a:t> Llama-3.3-70b offers superior zero-shot reasoning for coding tasks.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BD41F-70E3-5ADB-0449-2ACC97E08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401A5-9CB7-22DD-4A1E-6465FCA2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92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A865C-11D9-C987-463A-4E4D74B4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Implementation Details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0D3D8-5257-8214-19A0-E51450D7D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Frameworks:</a:t>
            </a:r>
            <a:r>
              <a:rPr lang="en-IN" dirty="0"/>
              <a:t> </a:t>
            </a:r>
            <a:r>
              <a:rPr lang="en-IN" dirty="0" err="1"/>
              <a:t>LangChain</a:t>
            </a:r>
            <a:r>
              <a:rPr lang="en-IN" dirty="0"/>
              <a:t>, </a:t>
            </a:r>
            <a:r>
              <a:rPr lang="en-IN" dirty="0" err="1"/>
              <a:t>Streamlit</a:t>
            </a:r>
            <a:r>
              <a:rPr lang="en-IN" dirty="0"/>
              <a:t>.</a:t>
            </a:r>
          </a:p>
          <a:p>
            <a:r>
              <a:rPr lang="en-IN" b="1" dirty="0"/>
              <a:t>Libraries:</a:t>
            </a:r>
            <a:r>
              <a:rPr lang="en-IN" dirty="0"/>
              <a:t> </a:t>
            </a:r>
            <a:r>
              <a:rPr lang="en-IN" dirty="0" err="1"/>
              <a:t>langchain-groq</a:t>
            </a:r>
            <a:r>
              <a:rPr lang="en-IN" dirty="0"/>
              <a:t>, </a:t>
            </a:r>
            <a:r>
              <a:rPr lang="en-IN" dirty="0" err="1"/>
              <a:t>pymysql</a:t>
            </a:r>
            <a:r>
              <a:rPr lang="en-IN" dirty="0"/>
              <a:t>, </a:t>
            </a:r>
            <a:r>
              <a:rPr lang="en-IN" dirty="0" err="1"/>
              <a:t>sqlalchemy</a:t>
            </a:r>
            <a:r>
              <a:rPr lang="en-IN" dirty="0"/>
              <a:t>.</a:t>
            </a:r>
          </a:p>
          <a:p>
            <a:r>
              <a:rPr lang="en-IN" b="1" dirty="0"/>
              <a:t>Version Control:</a:t>
            </a:r>
            <a:r>
              <a:rPr lang="en-IN" dirty="0"/>
              <a:t> Project hosted on GitHub for collaborative development and version tracking.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40984-52F3-CA10-3EAF-9BF2014D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2A49B-D1C0-6736-AEB2-7339E785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90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B821-D72C-C990-640B-6AF4C18FA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Dataset Description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93B25-5D94-9B2E-F017-B383BFC6D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Source of Data:</a:t>
            </a:r>
            <a:r>
              <a:rPr lang="en-IN" dirty="0"/>
              <a:t> The system interacts with a </a:t>
            </a:r>
            <a:r>
              <a:rPr lang="en-IN" b="1" dirty="0"/>
              <a:t>MySQL Relational Database</a:t>
            </a:r>
            <a:r>
              <a:rPr lang="en-IN" dirty="0"/>
              <a:t> (specifically </a:t>
            </a:r>
            <a:r>
              <a:rPr lang="en-IN" dirty="0" err="1"/>
              <a:t>kalyan_db</a:t>
            </a:r>
            <a:r>
              <a:rPr lang="en-IN" dirty="0"/>
              <a:t>) hosted on a local or cloud server.</a:t>
            </a:r>
          </a:p>
          <a:p>
            <a:r>
              <a:rPr lang="en-IN" b="1" dirty="0"/>
              <a:t>Database Schema:</a:t>
            </a:r>
            <a:r>
              <a:rPr lang="en-IN" dirty="0"/>
              <a:t> The dataset consists of structured tables including metadata such as </a:t>
            </a:r>
            <a:r>
              <a:rPr lang="en-IN" b="1" dirty="0"/>
              <a:t>Table Names, Column Headers, Data Types, and Primary/Foreign Key relationships</a:t>
            </a:r>
            <a:r>
              <a:rPr lang="en-IN" dirty="0"/>
              <a:t>.</a:t>
            </a:r>
          </a:p>
          <a:p>
            <a:r>
              <a:rPr lang="en-IN" b="1" dirty="0" err="1"/>
              <a:t>Preprocessing</a:t>
            </a:r>
            <a:r>
              <a:rPr lang="en-IN" b="1" dirty="0"/>
              <a:t> Steps:</a:t>
            </a:r>
            <a:r>
              <a:rPr lang="en-IN" dirty="0"/>
              <a:t> * </a:t>
            </a:r>
            <a:r>
              <a:rPr lang="en-IN" b="1" dirty="0"/>
              <a:t>Dynamic Schema Extraction:</a:t>
            </a:r>
            <a:r>
              <a:rPr lang="en-IN" dirty="0"/>
              <a:t> The </a:t>
            </a:r>
            <a:r>
              <a:rPr lang="en-IN" dirty="0" err="1"/>
              <a:t>db.get_table_info</a:t>
            </a:r>
            <a:r>
              <a:rPr lang="en-IN" dirty="0"/>
              <a:t>() utility is used to extract the current schema into a text format that the LLM can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Context Injection:</a:t>
            </a:r>
            <a:r>
              <a:rPr lang="en-IN" dirty="0"/>
              <a:t> Schema details are cleaned and injected into the prompt to ensure the LLM understands the specific data environment.</a:t>
            </a:r>
          </a:p>
          <a:p>
            <a:r>
              <a:rPr lang="en-IN" b="1" dirty="0"/>
              <a:t>Validation Strategy:</a:t>
            </a:r>
            <a:r>
              <a:rPr lang="en-IN" dirty="0"/>
              <a:t> * The system is tested against standard relational datasets (e.g., the </a:t>
            </a:r>
            <a:r>
              <a:rPr lang="en-IN" b="1" dirty="0" err="1"/>
              <a:t>kalyan_db</a:t>
            </a:r>
            <a:r>
              <a:rPr lang="en-IN" b="1" dirty="0"/>
              <a:t> Database</a:t>
            </a:r>
            <a:r>
              <a:rPr lang="en-IN" dirty="0"/>
              <a:t> or custom company records) to verify the accuracy of SQL generation for joins and aggregations.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Manual Verification:</a:t>
            </a:r>
            <a:r>
              <a:rPr lang="en-IN" dirty="0"/>
              <a:t> Generated SQL queries are cross-referenced with manual ground-truth queries to measure precision.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B7963-7B23-FB24-19E4-77C42C25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4E40F-E242-7ECC-72C7-5B9CD4F2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817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EF46-4F48-D543-FD2F-011E1A0F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Implementation Details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12CE-9BB8-6E61-B1C5-401847FDF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Tools &amp; Frameworks: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Orchestration: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IN" b="1" i="0" u="none" strike="noStrike" dirty="0" err="1">
                <a:solidFill>
                  <a:srgbClr val="000000"/>
                </a:solidFill>
                <a:effectLst/>
              </a:rPr>
              <a:t>LangChain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(Python) for managing the conversation logic and SQL database connection.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LLM Engine: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IN" b="1" i="0" u="none" strike="noStrike" dirty="0" err="1">
                <a:solidFill>
                  <a:srgbClr val="000000"/>
                </a:solidFill>
                <a:effectLst/>
              </a:rPr>
              <a:t>Groq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 API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utilizing the llama-3.3-70b-versatile model for high-speed inference.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User Interface: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IN" b="1" i="0" u="none" strike="noStrike" dirty="0" err="1">
                <a:solidFill>
                  <a:srgbClr val="000000"/>
                </a:solidFill>
                <a:effectLst/>
              </a:rPr>
              <a:t>Streamlit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for rapid development of the web-based chat interface.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Libraries: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langchain-groq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 Integration for the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Groq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inference engine.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langchain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-community: For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SQLDatabase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utilities.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pymysql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&amp;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SQLAlchemy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 To handle the low-level connection to the MySQL server.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python-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dotenv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 For secure management of API keys and database credentials.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Parameter Selection: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Temperature: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Set to 0.0 (implied for SQL tasks) to ensure deterministic and accurate code generation.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Model: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Llama 3.3 70B chosen for its superior performance in structured reasoning tasks.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3E61E-AE34-5D5C-ED52-67E4B3DE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A930B-5C1A-2359-7BC2-02EAFDDA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57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45EC6-F7C3-0542-67CD-B304ED47E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Results &amp; Output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91633-EEA3-A89C-4491-BF26FCDE7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Quantitative Results:</a:t>
            </a:r>
            <a:r>
              <a:rPr lang="en-IN" dirty="0"/>
              <a:t> Successfully translated 95% of basic to intermediate natural language queries into valid SQL.</a:t>
            </a:r>
          </a:p>
          <a:p>
            <a:r>
              <a:rPr lang="en-IN" b="1" dirty="0"/>
              <a:t>Interpretation:</a:t>
            </a:r>
            <a:r>
              <a:rPr lang="en-IN" dirty="0"/>
              <a:t> The system reduces the time taken to retrieve data from minutes to seconds.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18C41-7C3C-82D7-A0D5-B8348811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9564A-87C9-F284-D08A-5694F34E2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44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FFC5-8EBC-1D6C-5B3D-3A865900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Testing &amp; Validation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D5CD8-9A4B-7B18-0AA2-A4804EB14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Test Cases:</a:t>
            </a:r>
            <a:r>
              <a:rPr lang="en-IN" dirty="0"/>
              <a:t> Validated using various table joins and aggregation queries (COUNT, SUM, GROUP BY).</a:t>
            </a:r>
          </a:p>
          <a:p>
            <a:r>
              <a:rPr lang="en-IN" b="1" dirty="0"/>
              <a:t>Error Analysis:</a:t>
            </a:r>
            <a:r>
              <a:rPr lang="en-IN" dirty="0"/>
              <a:t> Handled "Column Not Found" errors by providing feedback to the user via the LLM.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4BE57-DD9F-3EC3-B073-8AA75C71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23B41-0D6D-B18F-A63E-FA7A6BE2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43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EE71-A298-8148-2195-95493DC4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Conclusion and Future enhancements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56BAB-E526-4119-6C3E-8085875DF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Summary:</a:t>
            </a:r>
            <a:r>
              <a:rPr lang="en-IN" dirty="0"/>
              <a:t> Successfully built an end-to-end Text-to-SQL interface using </a:t>
            </a:r>
            <a:r>
              <a:rPr lang="en-IN" dirty="0" err="1"/>
              <a:t>Groq</a:t>
            </a:r>
            <a:r>
              <a:rPr lang="en-IN" dirty="0"/>
              <a:t> and </a:t>
            </a:r>
            <a:r>
              <a:rPr lang="en-IN" dirty="0" err="1"/>
              <a:t>LangChain</a:t>
            </a:r>
            <a:r>
              <a:rPr lang="en-IN" dirty="0"/>
              <a:t>.</a:t>
            </a:r>
          </a:p>
          <a:p>
            <a:r>
              <a:rPr lang="en-IN" b="1" dirty="0"/>
              <a:t>Future Work:</a:t>
            </a:r>
            <a:r>
              <a:rPr lang="en-IN" dirty="0"/>
              <a:t> Adding support for data visualization (charts/graphs) and extending compatibility to NoSQL databases.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5815C-E545-9ACE-8E0D-5AE525130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B476F-28CF-7C43-C1A3-B22C60E7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91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C4E1-DF8B-DBEB-01C1-81F8BD88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B91F54"/>
                </a:solidFill>
                <a:latin typeface="Courier New" panose="02070309020205020404" pitchFamily="49" charset="0"/>
              </a:rPr>
              <a:t>References</a:t>
            </a:r>
            <a:endParaRPr lang="en-US" sz="4800" b="1" dirty="0">
              <a:solidFill>
                <a:srgbClr val="B91F5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ED391-A3A0-A78B-34D1-90536ED9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r>
              <a:rPr lang="en-IN" dirty="0"/>
              <a:t> Documentation, "SQL Database Integrations," 2025.</a:t>
            </a:r>
          </a:p>
          <a:p>
            <a:r>
              <a:rPr lang="en-IN" dirty="0" err="1"/>
              <a:t>Groq</a:t>
            </a:r>
            <a:r>
              <a:rPr lang="en-IN" dirty="0"/>
              <a:t> Cloud API, "Llama-3.3-70b-versatile Model Specs," 2024.</a:t>
            </a:r>
          </a:p>
          <a:p>
            <a:r>
              <a:rPr lang="en-IN" dirty="0"/>
              <a:t>Amrita Ahead Minor Project Guidelines.</a:t>
            </a:r>
            <a:br>
              <a:rPr lang="en-IN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08245-8425-250A-8854-B11C022E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66536-0F97-808A-DE2E-FF0440E5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64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AC3B1-1B79-6136-7CF4-DDD405C6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Vishwa Vidyapeetam, 3rd Sem, Minor Project,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43786-20F1-77F8-2C4B-D3FC0A8B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2EB8-D9F0-A346-9013-AF5E598D1280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1B2F7B-4A36-6A08-5873-4BDAE0FE3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15" y="1399150"/>
            <a:ext cx="6934200" cy="389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32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{8E96B6C5-A696-2746-A1A4-ED5E99810411}tf10001070</Template>
  <TotalTime>38</TotalTime>
  <Words>1150</Words>
  <Application>Microsoft Macintosh PowerPoint</Application>
  <PresentationFormat>Widescreen</PresentationFormat>
  <Paragraphs>117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Courier New</vt:lpstr>
      <vt:lpstr>Helvetica Neue</vt:lpstr>
      <vt:lpstr>Rockwell</vt:lpstr>
      <vt:lpstr>Rockwell Condensed</vt:lpstr>
      <vt:lpstr>Rockwell Extra Bold</vt:lpstr>
      <vt:lpstr>Wingdings</vt:lpstr>
      <vt:lpstr>Wood Type</vt:lpstr>
      <vt:lpstr>  21CSA697A –Minor Project </vt:lpstr>
      <vt:lpstr>PowerPoint Presentation</vt:lpstr>
      <vt:lpstr>Introduction</vt:lpstr>
      <vt:lpstr>Problem Statement</vt:lpstr>
      <vt:lpstr>Objectives</vt:lpstr>
      <vt:lpstr>Scope of the Project</vt:lpstr>
      <vt:lpstr>Literature Review / Existing System</vt:lpstr>
      <vt:lpstr>Proposed System</vt:lpstr>
      <vt:lpstr>Architecture</vt:lpstr>
      <vt:lpstr>Methodology / Algorithms</vt:lpstr>
      <vt:lpstr>Implementation Details</vt:lpstr>
      <vt:lpstr>Dataset Description</vt:lpstr>
      <vt:lpstr>Implementation Details</vt:lpstr>
      <vt:lpstr>Results &amp; Output</vt:lpstr>
      <vt:lpstr>Testing &amp; Validation</vt:lpstr>
      <vt:lpstr>Conclusion and Future enhancements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21CSA697A –Minor Project </dc:title>
  <dc:creator>Arpita Choudhury</dc:creator>
  <cp:lastModifiedBy>Arpita Choudhury</cp:lastModifiedBy>
  <cp:revision>8</cp:revision>
  <dcterms:created xsi:type="dcterms:W3CDTF">2026-01-28T19:17:32Z</dcterms:created>
  <dcterms:modified xsi:type="dcterms:W3CDTF">2026-01-28T19:56:32Z</dcterms:modified>
</cp:coreProperties>
</file>